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20"/>
  </p:notesMasterIdLst>
  <p:sldIdLst>
    <p:sldId id="257" r:id="rId2"/>
    <p:sldId id="647" r:id="rId3"/>
    <p:sldId id="676" r:id="rId4"/>
    <p:sldId id="677" r:id="rId5"/>
    <p:sldId id="678" r:id="rId6"/>
    <p:sldId id="679" r:id="rId7"/>
    <p:sldId id="687" r:id="rId8"/>
    <p:sldId id="681" r:id="rId9"/>
    <p:sldId id="689" r:id="rId10"/>
    <p:sldId id="682" r:id="rId11"/>
    <p:sldId id="688" r:id="rId12"/>
    <p:sldId id="683" r:id="rId13"/>
    <p:sldId id="680" r:id="rId14"/>
    <p:sldId id="685" r:id="rId15"/>
    <p:sldId id="690" r:id="rId16"/>
    <p:sldId id="691" r:id="rId17"/>
    <p:sldId id="692" r:id="rId18"/>
    <p:sldId id="68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6377" autoAdjust="0"/>
  </p:normalViewPr>
  <p:slideViewPr>
    <p:cSldViewPr snapToGrid="0" snapToObjects="1">
      <p:cViewPr varScale="1">
        <p:scale>
          <a:sx n="82" d="100"/>
          <a:sy n="82" d="100"/>
        </p:scale>
        <p:origin x="720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204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FCE6D7-5E99-4ABB-88DA-BC41220AEDA8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5ED807-7D0C-450A-9CA7-F80E1882B36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77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34" charset="0"/>
            </a:endParaRPr>
          </a:p>
        </p:txBody>
      </p:sp>
      <p:sp>
        <p:nvSpPr>
          <p:cNvPr id="1177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65EEB3-0FA8-4B98-B76E-1DB04380871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FF95B-1693-4AE2-A07E-FBE40E10C1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CB60AE-CDFB-4327-BE60-C4C08DCE2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6A012-34DF-47E5-BBA1-4F8C5B8C0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D071F-7FD0-4C6A-B842-D0A16E316060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F4D11-357F-463C-893B-345156C90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 B.Tech (CSE) - Major Project Presentation Review-2,  CSE Dept, CVR college of Engineering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D0D47-60C2-4523-B9A7-77725798E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734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B2BE9-2B52-45AC-82A7-55604DCBF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91B7F-E54C-4DD1-951A-CCC76C629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D26D9-CAE3-4139-976D-07EC6FDEC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E8048-F9B1-435E-AB13-DD691AA46A45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7E4DF-9B9B-41BD-B0BD-081B91C3D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 B.Tech (CSE) - Major Project Presentation Review-2,  CSE Dept, CVR college of Engineering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93248-D432-49DA-A019-A396A1EF8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688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FC4D4-17F5-499D-8FB3-C4DB25E8F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B82E23-D41B-430F-AE99-37998A953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8664E-D076-4899-8320-6E1A3AA44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53E1A-391E-43C9-A4EC-EFA7B8CEB6F4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875EA-73ED-44A0-9DC9-FA3FF0BF6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 B.Tech (CSE) - Major Project Presentation Review-2,  CSE Dept, CVR college of Engineering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E635D-B15B-42B5-A3F9-39B1047AE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394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6C21B-05F6-4D07-AA06-E31E52B83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B54F5-9006-48CE-AD4F-AA762C8115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966CB1-F025-4A8A-873D-D123FDC2A4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4CCF42-1D1D-4AE5-8FD0-05EE41F66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6AD1-EADA-4A3D-B54F-8ACF46A2634C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DD66CF-9275-4AE5-8868-463B949DD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 B.Tech (CSE) - Major Project Presentation Review-2,  CSE Dept, CVR college of Engineering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2D1110-C181-4117-BA5E-DE2BDBFFE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853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E7A2E-2A18-4F15-9FAC-E7300700C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E88B15-2D47-4187-B3E6-6F320B9F4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940372-C5B5-4E61-A73B-1E564C176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B04476-143D-4FB0-96A0-069676BDA1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FCCB14-1A47-4F95-B6EB-BBE3CD1D43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C8E660-95B7-48D6-9F1A-0CE15B99C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9CA48-C89A-4E05-BB58-DAAFC3601074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A8CC21-421A-4ECA-A917-1CFCEFA30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 B.Tech (CSE) - Major Project Presentation Review-2,  CSE Dept, CVR college of Engineering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C90001-AE4E-4E48-9ED8-4CEDC27E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165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E868C-10DA-44B2-8CB1-BAAA2EBE7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55265E-448D-4AFA-BA3D-3E31D166B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3DFFB-D4CF-4BFF-8A48-EAA417282E2C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D08416-6A8B-48FC-8D9B-B7435D25E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 B.Tech (CSE) - Major Project Presentation Review-2,  CSE Dept, CVR college of Engineering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CFD64E-3E5F-402A-BC77-F312B12C7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482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5EDB8-6014-4902-BECB-B10B631E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688B2-71FA-4761-9C46-8DFB06F75ABA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2FEC18-93AB-46A1-9253-1B86B28C8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 B.Tech (CSE) - Major Project Presentation Review-2,  CSE Dept, CVR college of Engineering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B2CEA-30CE-4B7F-9987-61B9749CF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496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4CC7A-3BCB-475D-A703-29E1FE211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E43F7-4722-4170-8802-6AA30C52B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C16915-BAB0-48F9-871D-5FA58033B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6A4C9A-5B0A-4080-AE7D-9ACF2554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BFA31-C5E3-4C03-9742-8B6C1CE56934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D050F-2CFC-47EE-B8A0-319B7E16B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 B.Tech (CSE) - Major Project Presentation Review-2,  CSE Dept, CVR college of Engineering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58C2E-CAFE-4E4C-98E1-109B379F8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481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452EE-00C1-497B-954E-28D83A963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2D7808-AA9B-4B9E-A0A1-C960A1A5C5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0BF52-AD23-4EBF-8FDF-056C81DAA6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7518DB-5D4A-4B64-9F71-25F5A5929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E62D-14BA-4223-96FE-7D8C6A9C99FB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C6977-5CA0-4B60-A73F-71FBD2814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 B.Tech (CSE) - Major Project Presentation Review-2,  CSE Dept, CVR college of Engineering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8C3AA1-AFD3-4EFA-BF2F-D2E7FDBB8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250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505B6-817E-40EB-8C0C-B8DF6EBDB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B9B23B-F06D-4B5D-A7F2-5E02045F98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F08A9-7AC9-4FCC-A870-0AC6B56C8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C56E1-34C5-4313-AF79-C77137931D59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A59DE-51F5-493C-B811-AAA4C93E5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 B.Tech (CSE) - Major Project Presentation Review-2,  CSE Dept, CVR college of Engineering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08A70-F010-4830-96D8-AB800DE55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699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B84A3C-DC73-4E0B-9437-EDDC6CAFD8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C2F81C-0896-4521-82B3-1AA53DA5FA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7BBA5-ACBE-4913-81F6-0312DCF46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48E74-4868-49EB-8918-62110231E328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10792-CE0A-44F4-A7C9-5641062A8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 B.Tech (CSE) - Major Project Presentation Review-2,  CSE Dept, CVR college of Engineering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BA3C5-D16A-4A4B-B17C-DD6F0836B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564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468F5E-17F6-492F-9896-16A9C4747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4C9DA-2006-4C90-9F97-09D94A6DB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1E689-17CC-41A4-BC01-3A3874C43B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101E2-3F35-4CB0-A6DC-AEB2F5A71D0B}" type="datetime1">
              <a:rPr lang="en-US" smtClean="0"/>
              <a:t>4/22/2025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5B6C8-DEBC-4A8F-BEA1-D091DC3F0E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IV B.Tech (CSE) - Major Project Presentation Review-2,  CSE Dept, CVR college of Engineering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1CA2C-B174-43FA-80DC-D4B1B41E9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224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2073-8994/12/8/1328" TargetMode="External"/><Relationship Id="rId2" Type="http://schemas.openxmlformats.org/officeDocument/2006/relationships/hyperlink" Target="https://www.mdpi.com/2079-9292/13/1/17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xplore.ieee.org/abstract/document/10061373/" TargetMode="External"/><Relationship Id="rId5" Type="http://schemas.openxmlformats.org/officeDocument/2006/relationships/hyperlink" Target="https://ieeexplore.ieee.org/abstract/document/9812616/" TargetMode="External"/><Relationship Id="rId4" Type="http://schemas.openxmlformats.org/officeDocument/2006/relationships/hyperlink" Target="https://ieeexplore.ieee.org/abstract/document/8457919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87623" y="97120"/>
            <a:ext cx="10720873" cy="99060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Title</a:t>
            </a:r>
          </a:p>
        </p:txBody>
      </p:sp>
      <p:sp>
        <p:nvSpPr>
          <p:cNvPr id="2055" name="TextBox 5"/>
          <p:cNvSpPr txBox="1">
            <a:spLocks noChangeArrowheads="1"/>
          </p:cNvSpPr>
          <p:nvPr/>
        </p:nvSpPr>
        <p:spPr bwMode="auto">
          <a:xfrm>
            <a:off x="1937657" y="2802230"/>
            <a:ext cx="7559351" cy="184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/>
            <a:r>
              <a:rPr lang="en-US" b="1" dirty="0">
                <a:solidFill>
                  <a:srgbClr val="9C0400"/>
                </a:solidFill>
                <a:latin typeface="Times New Roman" pitchFamily="18" charset="0"/>
                <a:cs typeface="Times New Roman" pitchFamily="18" charset="0"/>
              </a:rPr>
              <a:t>Name: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M.AJAY KUMAR,G.ASHWITH,S.S. ABHIRAM</a:t>
            </a:r>
          </a:p>
          <a:p>
            <a:pPr eaLnBrk="1" hangingPunct="1"/>
            <a:r>
              <a:rPr lang="en-US" b="1" dirty="0">
                <a:solidFill>
                  <a:srgbClr val="9C0400"/>
                </a:solidFill>
                <a:latin typeface="Times New Roman" pitchFamily="18" charset="0"/>
                <a:cs typeface="Times New Roman" pitchFamily="18" charset="0"/>
              </a:rPr>
              <a:t>                Roll No: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23B81A05K4,23B81A05L0,23B81A05N9</a:t>
            </a:r>
          </a:p>
          <a:p>
            <a:pPr eaLnBrk="1" hangingPunct="1"/>
            <a:r>
              <a:rPr lang="en-US" b="1" dirty="0">
                <a:solidFill>
                  <a:srgbClr val="9C0400"/>
                </a:solidFill>
                <a:latin typeface="Times New Roman" pitchFamily="18" charset="0"/>
                <a:cs typeface="Times New Roman" pitchFamily="18" charset="0"/>
              </a:rPr>
              <a:t>                </a:t>
            </a:r>
            <a:r>
              <a:rPr lang="en-US" b="1" dirty="0" err="1">
                <a:solidFill>
                  <a:srgbClr val="9C0400"/>
                </a:solidFill>
                <a:latin typeface="Times New Roman" pitchFamily="18" charset="0"/>
                <a:cs typeface="Times New Roman" pitchFamily="18" charset="0"/>
              </a:rPr>
              <a:t>Section: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CSE-D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b="1" dirty="0">
                <a:solidFill>
                  <a:srgbClr val="9C0400"/>
                </a:solidFill>
                <a:latin typeface="Times New Roman" pitchFamily="18" charset="0"/>
                <a:cs typeface="Times New Roman" pitchFamily="18" charset="0"/>
              </a:rPr>
              <a:t>                Batch No: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02</a:t>
            </a:r>
          </a:p>
          <a:p>
            <a:pPr eaLnBrk="1" hangingPunct="1"/>
            <a:r>
              <a:rPr lang="en-US" b="1" dirty="0">
                <a:solidFill>
                  <a:srgbClr val="9C0400"/>
                </a:solidFill>
                <a:latin typeface="Times New Roman" pitchFamily="18" charset="0"/>
                <a:cs typeface="Times New Roman" pitchFamily="18" charset="0"/>
              </a:rPr>
              <a:t>                </a:t>
            </a:r>
            <a:r>
              <a:rPr lang="en-US" b="1" dirty="0" err="1">
                <a:solidFill>
                  <a:srgbClr val="9C0400"/>
                </a:solidFill>
                <a:latin typeface="Times New Roman" pitchFamily="18" charset="0"/>
                <a:cs typeface="Times New Roman" pitchFamily="18" charset="0"/>
              </a:rPr>
              <a:t>Dept: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CSE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b="1" dirty="0">
                <a:solidFill>
                  <a:srgbClr val="9C0400"/>
                </a:solidFill>
                <a:latin typeface="Times New Roman" pitchFamily="18" charset="0"/>
                <a:cs typeface="Times New Roman" pitchFamily="18" charset="0"/>
              </a:rPr>
              <a:t>                         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CVR College of Engineering 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6" name="Slide Number Placeholder 8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447DF5C-FB21-4444-BFC9-EEAFB5E6E7AC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412033" y="1396488"/>
            <a:ext cx="8610600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Real -Time/Field-Based Research Project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Review-2 Presentation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8" name="TextBox 9"/>
          <p:cNvSpPr txBox="1">
            <a:spLocks noChangeArrowheads="1"/>
          </p:cNvSpPr>
          <p:nvPr/>
        </p:nvSpPr>
        <p:spPr bwMode="auto">
          <a:xfrm>
            <a:off x="5600700" y="2220872"/>
            <a:ext cx="9906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by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2715E3-AE6C-2BF6-9B89-FA83E2D7C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03" y="97120"/>
            <a:ext cx="946903" cy="94690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CE8B3E-5A22-9340-152B-B7265A4A6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690730" cy="365125"/>
          </a:xfrm>
        </p:spPr>
        <p:txBody>
          <a:bodyPr/>
          <a:lstStyle/>
          <a:p>
            <a:r>
              <a:rPr lang="en-US" dirty="0"/>
              <a:t>II </a:t>
            </a:r>
            <a:r>
              <a:rPr lang="en-US" dirty="0" err="1"/>
              <a:t>B.Tech</a:t>
            </a:r>
            <a:r>
              <a:rPr lang="en-US" dirty="0"/>
              <a:t> (CSE) - 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/>
              <a:t>Real -Time/Field-Based Research Project 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471" y="808703"/>
            <a:ext cx="11395587" cy="990600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IN" sz="1600" dirty="0"/>
              <a:t>🎯</a:t>
            </a:r>
            <a:r>
              <a:rPr lang="en-IN" sz="2200" dirty="0">
                <a:latin typeface="Segoe UI Black" panose="020B0A02040204020203" pitchFamily="34" charset="0"/>
                <a:ea typeface="Segoe UI Black" panose="020B0A02040204020203" pitchFamily="34" charset="0"/>
                <a:cs typeface="Times New Roman" pitchFamily="18" charset="0"/>
              </a:rPr>
              <a:t>PROJECT AIM:</a:t>
            </a:r>
            <a:r>
              <a:rPr lang="en-US" sz="2600" dirty="0"/>
              <a:t>To develop a </a:t>
            </a:r>
            <a:r>
              <a:rPr lang="en-US" sz="2600" b="1" dirty="0"/>
              <a:t>secure, transparent, and efficient online voting system</a:t>
            </a:r>
            <a:r>
              <a:rPr lang="en-US" sz="2600" dirty="0"/>
              <a:t> using </a:t>
            </a:r>
            <a:r>
              <a:rPr lang="en-US" sz="2600" b="1" dirty="0"/>
              <a:t>blockchain technology</a:t>
            </a:r>
            <a:r>
              <a:rPr lang="en-US" sz="2600" dirty="0"/>
              <a:t> that ensures </a:t>
            </a:r>
            <a:r>
              <a:rPr lang="en-US" sz="2600" b="1" dirty="0"/>
              <a:t>vote integrity, accessibility, automation</a:t>
            </a:r>
            <a:r>
              <a:rPr lang="en-US" sz="2600" dirty="0"/>
              <a:t>, and </a:t>
            </a:r>
            <a:r>
              <a:rPr lang="en-US" sz="2600" b="1" dirty="0"/>
              <a:t>tamper-proof recording</a:t>
            </a:r>
            <a:r>
              <a:rPr lang="en-US" sz="2600" dirty="0"/>
              <a:t>, thereby </a:t>
            </a:r>
            <a:r>
              <a:rPr lang="en-US" sz="2600" b="1" dirty="0"/>
              <a:t>replacing outdated traditional systems</a:t>
            </a:r>
            <a:r>
              <a:rPr lang="en-US" sz="2600" dirty="0"/>
              <a:t> and building </a:t>
            </a:r>
            <a:r>
              <a:rPr lang="en-US" sz="2600" b="1" dirty="0"/>
              <a:t>trust in digital elections</a:t>
            </a:r>
            <a:r>
              <a:rPr lang="en-US" sz="2600" dirty="0"/>
              <a:t>.</a:t>
            </a:r>
          </a:p>
          <a:p>
            <a:pPr marL="0" indent="0" algn="just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B050B7-97BD-402D-91FD-54EFDB966CF3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0" y="115200"/>
            <a:ext cx="12064482" cy="68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dirty="0">
                <a:solidFill>
                  <a:srgbClr val="991777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Abstract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328443D-BAB2-9602-A8EF-65EA49F23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 B.Tech (CSE) - Major Project Presentation Review-2,  CSE Dept, CVR college of Engineering</a:t>
            </a:r>
            <a:endParaRPr lang="en-US" dirty="0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FD410AA2-E27F-9162-B3E3-A8AA5E018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3759" y="669947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99749C39-166E-04A2-630D-23130BAF0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987" y="1925942"/>
            <a:ext cx="11395586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Proposes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blockchain-based e-voting 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overcome the drawbacks of</a:t>
            </a:r>
            <a:r>
              <a:rPr lang="en-US" altLang="en-US" sz="2400" dirty="0"/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traditional  voting methods.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Utilizes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decentralization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prevent single points of failure and manipulation.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Employs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encryption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secure voter data and ensure privacy.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Integrates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smart contracts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automated vote validation and counting.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Ensures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tamper-proof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verifiable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voting records.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Enhances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transparency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trust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the electoral process.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Enables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remote participation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increasing voter accessibility.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Reduces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human error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improves overall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election efficiency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B3B92-7379-1B6D-B06C-72DDA8CE3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796" y="1054359"/>
            <a:ext cx="10654004" cy="512260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Traditional and electronic voting systems face issues of security, transparency, and limited accessibility. Existing solutions lack public trust due to risks of fraud, tampering, and poor verifiability. This project proposes a blockchain-based e-voting system to provide a secure, transparent, and accessible platform that ensures vote integrity and builds voter confidence.</a:t>
            </a:r>
          </a:p>
          <a:p>
            <a:pPr marL="0" indent="0">
              <a:buNone/>
            </a:pPr>
            <a:r>
              <a:rPr lang="en-US" sz="2200" u="sng" kern="12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Berlin Sans FB Demi" panose="020E0802020502020306" pitchFamily="34" charset="0"/>
                <a:ea typeface="+mn-ea"/>
                <a:cs typeface="+mn-cs"/>
              </a:rPr>
              <a:t>E-VOTING THROUGH BLOCKCHAIN AIMS TO SOLVE THESE CHALLENGES BY:</a:t>
            </a:r>
            <a:endParaRPr lang="en-IN" sz="2200" u="sng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marL="0" indent="0">
              <a:buNone/>
            </a:pPr>
            <a:r>
              <a:rPr lang="en-IN" sz="2600" dirty="0"/>
              <a:t>1️⃣ Security</a:t>
            </a:r>
            <a:br>
              <a:rPr lang="en-IN" sz="2600" dirty="0"/>
            </a:br>
            <a:r>
              <a:rPr lang="en-IN" sz="2600" dirty="0"/>
              <a:t>2️⃣ Tamper-proof</a:t>
            </a:r>
            <a:br>
              <a:rPr lang="en-IN" sz="2600" dirty="0"/>
            </a:br>
            <a:r>
              <a:rPr lang="en-IN" sz="2600" dirty="0"/>
              <a:t>3️⃣ Transparency</a:t>
            </a:r>
            <a:br>
              <a:rPr lang="en-IN" sz="2600" dirty="0"/>
            </a:br>
            <a:r>
              <a:rPr lang="en-IN" sz="2600" dirty="0"/>
              <a:t>4️⃣ Voter Authentication</a:t>
            </a:r>
            <a:br>
              <a:rPr lang="en-IN" sz="2600" dirty="0"/>
            </a:br>
            <a:r>
              <a:rPr lang="en-IN" sz="2600" dirty="0"/>
              <a:t>5️⃣ Remote Accessibility</a:t>
            </a:r>
            <a:br>
              <a:rPr lang="en-IN" sz="2600" dirty="0"/>
            </a:br>
            <a:r>
              <a:rPr lang="en-IN" sz="2600" dirty="0"/>
              <a:t>6️⃣ Automated Vote Counting</a:t>
            </a:r>
            <a:br>
              <a:rPr lang="en-IN" sz="2600" dirty="0"/>
            </a:br>
            <a:r>
              <a:rPr lang="en-IN" sz="2600" dirty="0"/>
              <a:t>7️⃣ Trust</a:t>
            </a:r>
            <a:br>
              <a:rPr lang="en-IN" sz="2600" dirty="0"/>
            </a:br>
            <a:r>
              <a:rPr lang="en-IN" sz="2600" dirty="0"/>
              <a:t>8️⃣ Scalability</a:t>
            </a:r>
            <a:br>
              <a:rPr lang="en-IN" sz="2600" dirty="0"/>
            </a:br>
            <a:r>
              <a:rPr lang="en-IN" sz="2600" dirty="0"/>
              <a:t>9️⃣ Cost Efficiency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AB9FD-6E3D-2D01-E476-5CD631DE2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B050B7-97BD-402D-91FD-54EFDB966CF3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0511C4-3C92-3AF5-3758-B83C14362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59" y="23125"/>
            <a:ext cx="12064482" cy="68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dirty="0">
                <a:solidFill>
                  <a:srgbClr val="991777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Problem definition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6632AA-7F46-8578-A3DF-B15EB270E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 B.Tech (CSE) - Major Project Presentation Review-2,  CSE Dept, CVR college of Engineering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711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CE71D-1E2C-B14D-F9DC-5607B2C28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490" y="1082351"/>
            <a:ext cx="10747310" cy="5094612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IN" b="1" dirty="0"/>
              <a:t>✅ Functional Requirements</a:t>
            </a:r>
          </a:p>
          <a:p>
            <a:pPr marL="0" indent="0">
              <a:buNone/>
            </a:pPr>
            <a:r>
              <a:rPr lang="en-IN" dirty="0"/>
              <a:t>   1️⃣ User Authentication</a:t>
            </a:r>
            <a:br>
              <a:rPr lang="en-IN" dirty="0"/>
            </a:br>
            <a:r>
              <a:rPr lang="en-IN" dirty="0"/>
              <a:t>   2️⃣ Vote Casting</a:t>
            </a:r>
            <a:br>
              <a:rPr lang="en-IN" dirty="0"/>
            </a:br>
            <a:r>
              <a:rPr lang="en-IN" dirty="0"/>
              <a:t>   3️⃣ Vote Validation</a:t>
            </a:r>
            <a:br>
              <a:rPr lang="en-IN" dirty="0"/>
            </a:br>
            <a:r>
              <a:rPr lang="en-IN" dirty="0"/>
              <a:t>   4️⃣ Blockchain Integration</a:t>
            </a:r>
            <a:br>
              <a:rPr lang="en-IN" dirty="0"/>
            </a:br>
            <a:r>
              <a:rPr lang="en-IN" dirty="0"/>
              <a:t>   5️⃣ Result Calculation</a:t>
            </a:r>
            <a:br>
              <a:rPr lang="en-IN" dirty="0"/>
            </a:br>
            <a:r>
              <a:rPr lang="en-IN" dirty="0"/>
              <a:t>   6️⃣ Voter Interface</a:t>
            </a:r>
          </a:p>
          <a:p>
            <a:pPr>
              <a:buNone/>
            </a:pPr>
            <a:r>
              <a:rPr lang="en-IN" b="1" dirty="0"/>
              <a:t>⚙️ Non-Functional Requirements</a:t>
            </a:r>
          </a:p>
          <a:p>
            <a:pPr marL="0" indent="0">
              <a:buNone/>
            </a:pPr>
            <a:r>
              <a:rPr lang="en-IN" dirty="0"/>
              <a:t>   1️⃣ Security</a:t>
            </a:r>
            <a:br>
              <a:rPr lang="en-IN" dirty="0"/>
            </a:br>
            <a:r>
              <a:rPr lang="en-IN" dirty="0"/>
              <a:t>   2️⃣ Scalability</a:t>
            </a:r>
            <a:br>
              <a:rPr lang="en-IN" dirty="0"/>
            </a:br>
            <a:r>
              <a:rPr lang="en-IN" dirty="0"/>
              <a:t>   3️⃣ Usability</a:t>
            </a:r>
            <a:br>
              <a:rPr lang="en-IN" dirty="0"/>
            </a:br>
            <a:r>
              <a:rPr lang="en-IN" dirty="0"/>
              <a:t>   4️⃣ Reliability</a:t>
            </a:r>
            <a:br>
              <a:rPr lang="en-IN" dirty="0"/>
            </a:br>
            <a:r>
              <a:rPr lang="en-IN" dirty="0"/>
              <a:t>   5️⃣ Transparency</a:t>
            </a:r>
            <a:br>
              <a:rPr lang="en-IN" dirty="0"/>
            </a:br>
            <a:r>
              <a:rPr lang="en-IN" dirty="0"/>
              <a:t>   6️⃣ Performance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B5F45-24AF-8442-528E-AE0E1204F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B050B7-97BD-402D-91FD-54EFDB966CF3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392AFF-D982-F651-057E-FE5292EAE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3125"/>
            <a:ext cx="12064482" cy="68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dirty="0">
                <a:solidFill>
                  <a:srgbClr val="991777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Software Requirement Specification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A4323E-C2F7-2872-CF5F-47AA20EDB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 </a:t>
            </a:r>
            <a:r>
              <a:rPr lang="en-US" dirty="0" err="1"/>
              <a:t>B.Tech</a:t>
            </a:r>
            <a:r>
              <a:rPr lang="en-US" dirty="0"/>
              <a:t> (CSE) - 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/>
              <a:t>Real -Time/Field-Based Research Project 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25519714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A88D8-D6DD-BB12-FA8B-B0A0DABFE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3690"/>
            <a:ext cx="10515600" cy="5113273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50000"/>
              </a:lnSpc>
              <a:buClr>
                <a:srgbClr val="9C0400"/>
              </a:buClr>
              <a:buSzPct val="150000"/>
              <a:buNone/>
            </a:pPr>
            <a:r>
              <a:rPr lang="en-US" sz="36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1.</a:t>
            </a:r>
            <a:r>
              <a:rPr lang="en-US" sz="28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Proposed methodology </a:t>
            </a:r>
          </a:p>
          <a:p>
            <a:pPr marL="0" indent="0">
              <a:lnSpc>
                <a:spcPct val="150000"/>
              </a:lnSpc>
              <a:buClr>
                <a:srgbClr val="9C0400"/>
              </a:buClr>
              <a:buSzPct val="150000"/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        (Architecture/Model/DFDs/ Algorithms) </a:t>
            </a:r>
          </a:p>
          <a:p>
            <a:pPr marL="0" indent="0">
              <a:lnSpc>
                <a:spcPct val="150000"/>
              </a:lnSpc>
              <a:buClr>
                <a:srgbClr val="9C0400"/>
              </a:buClr>
              <a:buSzPct val="150000"/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2.System design</a:t>
            </a:r>
          </a:p>
          <a:p>
            <a:pPr marL="0" indent="0">
              <a:lnSpc>
                <a:spcPct val="150000"/>
              </a:lnSpc>
              <a:buClr>
                <a:srgbClr val="9C0400"/>
              </a:buClr>
              <a:buSzPct val="150000"/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   Structural diagrams (Class, Object, Component, Deployment)</a:t>
            </a:r>
          </a:p>
          <a:p>
            <a:pPr marL="0" indent="0">
              <a:lnSpc>
                <a:spcPct val="150000"/>
              </a:lnSpc>
              <a:buClr>
                <a:srgbClr val="9C0400"/>
              </a:buClr>
              <a:buSzPct val="150000"/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   Behavioral diagrams( Use case, sequence, collaboration ,activity, state chart diagrams)</a:t>
            </a:r>
          </a:p>
          <a:p>
            <a:pPr marL="0" indent="0">
              <a:lnSpc>
                <a:spcPct val="150000"/>
              </a:lnSpc>
              <a:buClr>
                <a:srgbClr val="9C0400"/>
              </a:buClr>
              <a:buSzPct val="150000"/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3. Implementation – Module description</a:t>
            </a:r>
          </a:p>
          <a:p>
            <a:pPr marL="0" indent="0">
              <a:lnSpc>
                <a:spcPct val="150000"/>
              </a:lnSpc>
              <a:buClr>
                <a:srgbClr val="9C0400"/>
              </a:buClr>
              <a:buSzPct val="150000"/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4. Coding  </a:t>
            </a:r>
          </a:p>
          <a:p>
            <a:pPr marL="0" indent="0">
              <a:lnSpc>
                <a:spcPct val="150000"/>
              </a:lnSpc>
              <a:buClr>
                <a:srgbClr val="9C0400"/>
              </a:buClr>
              <a:buSzPct val="150000"/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5. Results ( Expected output)</a:t>
            </a:r>
          </a:p>
          <a:p>
            <a:pPr marL="0" indent="0">
              <a:lnSpc>
                <a:spcPct val="150000"/>
              </a:lnSpc>
              <a:buClr>
                <a:srgbClr val="9C0400"/>
              </a:buClr>
              <a:buSzPct val="150000"/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Status of Paper publication :(submitted/ not submitted) </a:t>
            </a:r>
          </a:p>
          <a:p>
            <a:pPr marL="0" indent="0">
              <a:lnSpc>
                <a:spcPct val="150000"/>
              </a:lnSpc>
              <a:buClr>
                <a:srgbClr val="9C0400"/>
              </a:buClr>
              <a:buSzPct val="150000"/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Status of Project documentation: (Percentage of Project  report writing completed:  )</a:t>
            </a:r>
          </a:p>
          <a:p>
            <a:pPr marL="0" indent="0">
              <a:lnSpc>
                <a:spcPct val="150000"/>
              </a:lnSpc>
              <a:buClr>
                <a:srgbClr val="9C0400"/>
              </a:buClr>
              <a:buSzPct val="150000"/>
              <a:buNone/>
            </a:pPr>
            <a:r>
              <a:rPr lang="en-US" sz="36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   References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7896E7-2DB7-E965-5FAE-917B50031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 </a:t>
            </a:r>
            <a:r>
              <a:rPr lang="en-US" dirty="0" err="1"/>
              <a:t>B.Tech</a:t>
            </a:r>
            <a:r>
              <a:rPr lang="en-US" dirty="0"/>
              <a:t> (CSE) - 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/>
              <a:t>Real -Time/Field-Based Research Project 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0F528D-6647-F713-BA8E-584C157A9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075" name="Rectangle 4"/>
          <p:cNvSpPr txBox="1">
            <a:spLocks noChangeArrowheads="1"/>
          </p:cNvSpPr>
          <p:nvPr/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rgbClr val="991777"/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4229700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B21FE4-DE7E-6767-3E8F-EA630235B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 </a:t>
            </a:r>
            <a:r>
              <a:rPr lang="en-US" dirty="0" err="1"/>
              <a:t>B.Tech</a:t>
            </a:r>
            <a:r>
              <a:rPr lang="en-US" dirty="0"/>
              <a:t> (CSE) - 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/>
              <a:t>Real -Time/Field-Based Research Project 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1AF165-034C-D97A-5E25-E7869559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793821A-B45A-5060-29B8-EFD42574169C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1.Proposed methodology</a:t>
            </a:r>
            <a:endParaRPr lang="en-US" sz="3200" b="1" dirty="0">
              <a:solidFill>
                <a:srgbClr val="99177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Picture 11" descr="A diagram of a process&#10;&#10;AI-generated content may be incorrect.">
            <a:extLst>
              <a:ext uri="{FF2B5EF4-FFF2-40B4-BE49-F238E27FC236}">
                <a16:creationId xmlns:a16="http://schemas.microsoft.com/office/drawing/2014/main" id="{EB676155-F23B-A7A8-9A59-3C7D521E5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989" y="793102"/>
            <a:ext cx="5737609" cy="533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29558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95395-70D9-A315-E9C5-84819E33A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96F18E-C929-6395-CA45-764C67A57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 </a:t>
            </a:r>
            <a:r>
              <a:rPr lang="en-US" dirty="0" err="1"/>
              <a:t>B.Tech</a:t>
            </a:r>
            <a:r>
              <a:rPr lang="en-US" dirty="0"/>
              <a:t> (CSE) - 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/>
              <a:t>Real -Time/Field-Based Research Project 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373606-AD60-E500-772A-C9BC6EE60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A984F33-7306-4603-3EC8-53FA56A3FB8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1.Proposed methodology</a:t>
            </a:r>
            <a:endParaRPr lang="en-US" sz="3200" b="1" dirty="0">
              <a:solidFill>
                <a:srgbClr val="99177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883912C-FFF8-9440-D1B0-FC8437268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94" y="1024561"/>
            <a:ext cx="10636898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🧾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Authentication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connect their MetaMask wallet to securely log in and verify identity.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🗳️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Candidate Setup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configures and manages candidate profiles through the frontend.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Vote Casting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Authenticated users select a candidate and submit their vote via the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🔗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Contract Interaction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Votes are processed through Ethereum smart contracts ensuring automation and validation.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📦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Blockchain Storage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vote is encrypted, timestamped, and immutably stored on the blockchain.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📊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Tallying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contracts tally votes in real-time, reducing manual errors.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🖥️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 Display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results are displayed transparently to users through the UI.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🔍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Vote Verification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Voters can verify their transaction on the blockchain for transparency and trust.</a:t>
            </a:r>
          </a:p>
        </p:txBody>
      </p:sp>
    </p:spTree>
    <p:extLst>
      <p:ext uri="{BB962C8B-B14F-4D97-AF65-F5344CB8AC3E}">
        <p14:creationId xmlns:p14="http://schemas.microsoft.com/office/powerpoint/2010/main" val="27012019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C01F9-CD85-993F-4FEA-3DD9AACC1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7092B1-D51E-AA10-E381-BF83E338F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 </a:t>
            </a:r>
            <a:r>
              <a:rPr lang="en-US" dirty="0" err="1"/>
              <a:t>B.Tech</a:t>
            </a:r>
            <a:r>
              <a:rPr lang="en-US" dirty="0"/>
              <a:t> (CSE) - 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/>
              <a:t>Real -Time/Field-Based Research Project 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DF14EF-93AE-F379-9D77-F9885730F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6BB3FB2-3B1B-F27B-F877-0208FD0BA90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ctr">
              <a:lnSpc>
                <a:spcPct val="150000"/>
              </a:lnSpc>
              <a:buClr>
                <a:srgbClr val="9C0400"/>
              </a:buClr>
              <a:buSzPct val="150000"/>
              <a:buNone/>
            </a:pPr>
            <a:r>
              <a:rPr lang="en-US" sz="32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2.System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91D78-BEAA-466B-8BFD-80773B9EB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282" y="1343607"/>
            <a:ext cx="5840963" cy="5225143"/>
          </a:xfrm>
        </p:spPr>
        <p:txBody>
          <a:bodyPr>
            <a:normAutofit lnSpcReduction="10000"/>
          </a:bodyPr>
          <a:lstStyle/>
          <a:p>
            <a:pPr>
              <a:defRPr sz="1400"/>
            </a:pPr>
            <a:r>
              <a:rPr lang="en-IN" sz="1800" b="1" dirty="0"/>
              <a:t>User</a:t>
            </a:r>
            <a:r>
              <a:rPr lang="en-IN" sz="1600" dirty="0"/>
              <a:t>: Represents a voter. Requests and verifies OTP for authentication. Casts a vote after verification.</a:t>
            </a:r>
          </a:p>
          <a:p>
            <a:pPr marL="0" indent="0">
              <a:buNone/>
              <a:defRPr sz="1400"/>
            </a:pPr>
            <a:r>
              <a:rPr lang="en-IN" sz="1600" dirty="0"/>
              <a:t>•</a:t>
            </a:r>
            <a:r>
              <a:rPr lang="en-IN" sz="1600" b="1" dirty="0"/>
              <a:t> </a:t>
            </a:r>
            <a:r>
              <a:rPr lang="en-IN" sz="1600" b="1" dirty="0" err="1"/>
              <a:t>OTPManager</a:t>
            </a:r>
            <a:r>
              <a:rPr lang="en-IN" sz="1600" dirty="0"/>
              <a:t>: Generates and sends OTPs via email. Ensures OTPs expire and verifies them before allowing voting.</a:t>
            </a:r>
          </a:p>
          <a:p>
            <a:pPr marL="0" indent="0">
              <a:buNone/>
              <a:defRPr sz="1400"/>
            </a:pPr>
            <a:r>
              <a:rPr lang="en-IN" sz="1600" dirty="0"/>
              <a:t>• </a:t>
            </a:r>
            <a:r>
              <a:rPr lang="en-IN" sz="1600" b="1" dirty="0" err="1"/>
              <a:t>VotingSystem</a:t>
            </a:r>
            <a:r>
              <a:rPr lang="en-IN" sz="1600" dirty="0"/>
              <a:t>: Manages voter and candidate lists. Authenticates voters and records valid votes. Tallies final results.</a:t>
            </a:r>
          </a:p>
          <a:p>
            <a:pPr marL="0" indent="0">
              <a:buNone/>
              <a:defRPr sz="1400"/>
            </a:pPr>
            <a:r>
              <a:rPr lang="en-IN" sz="1600" dirty="0"/>
              <a:t>•</a:t>
            </a:r>
            <a:r>
              <a:rPr lang="en-IN" sz="1600" b="1" dirty="0"/>
              <a:t> </a:t>
            </a:r>
            <a:r>
              <a:rPr lang="en-IN" sz="1600" b="1" dirty="0" err="1"/>
              <a:t>SmartContract</a:t>
            </a:r>
            <a:r>
              <a:rPr lang="en-IN" sz="1600" dirty="0"/>
              <a:t>: Contains the logic for secure voting. Accepts and validates vote transactions. Stores results transparently.</a:t>
            </a:r>
          </a:p>
          <a:p>
            <a:pPr marL="0" indent="0">
              <a:buNone/>
              <a:defRPr sz="1400"/>
            </a:pPr>
            <a:r>
              <a:rPr lang="en-IN" sz="1600" dirty="0"/>
              <a:t>• </a:t>
            </a:r>
            <a:r>
              <a:rPr lang="en-IN" sz="1600" b="1" dirty="0" err="1"/>
              <a:t>BlockchainService</a:t>
            </a:r>
            <a:r>
              <a:rPr lang="en-IN" sz="1600" dirty="0"/>
              <a:t>: Records votes immutably. Validates blocks and stores vote data securely. Supports audit and retrieval.</a:t>
            </a:r>
          </a:p>
          <a:p>
            <a:pPr marL="0" indent="0">
              <a:buNone/>
              <a:defRPr sz="1400"/>
            </a:pPr>
            <a:r>
              <a:rPr lang="en-IN" sz="1600" dirty="0"/>
              <a:t>• </a:t>
            </a:r>
            <a:r>
              <a:rPr lang="en-IN" sz="1600" b="1" dirty="0"/>
              <a:t>Interactions:</a:t>
            </a:r>
          </a:p>
          <a:p>
            <a:pPr lvl="1">
              <a:defRPr sz="1400"/>
            </a:pPr>
            <a:r>
              <a:rPr lang="en-IN" sz="1600" dirty="0"/>
              <a:t>- User ↔ </a:t>
            </a:r>
            <a:r>
              <a:rPr lang="en-IN" sz="1600" dirty="0" err="1"/>
              <a:t>OTPManager</a:t>
            </a:r>
            <a:r>
              <a:rPr lang="en-IN" sz="1600" dirty="0"/>
              <a:t>: Identity verification via email-based OTP.</a:t>
            </a:r>
          </a:p>
          <a:p>
            <a:pPr lvl="1">
              <a:defRPr sz="1400"/>
            </a:pPr>
            <a:r>
              <a:rPr lang="en-IN" sz="1600" dirty="0"/>
              <a:t>- </a:t>
            </a:r>
            <a:r>
              <a:rPr lang="en-IN" sz="1600" dirty="0" err="1"/>
              <a:t>OTPManager</a:t>
            </a:r>
            <a:r>
              <a:rPr lang="en-IN" sz="1600" dirty="0"/>
              <a:t> ↔ </a:t>
            </a:r>
            <a:r>
              <a:rPr lang="en-IN" sz="1600" dirty="0" err="1"/>
              <a:t>VotingSystem</a:t>
            </a:r>
            <a:r>
              <a:rPr lang="en-IN" sz="1600" dirty="0"/>
              <a:t>: Access to voting after successful verification.</a:t>
            </a:r>
          </a:p>
          <a:p>
            <a:pPr lvl="1">
              <a:defRPr sz="1400"/>
            </a:pPr>
            <a:r>
              <a:rPr lang="en-IN" sz="1600" dirty="0"/>
              <a:t>- </a:t>
            </a:r>
            <a:r>
              <a:rPr lang="en-IN" sz="1600" dirty="0" err="1"/>
              <a:t>VotingSystem</a:t>
            </a:r>
            <a:r>
              <a:rPr lang="en-IN" sz="1600" dirty="0"/>
              <a:t> ↔ </a:t>
            </a:r>
            <a:r>
              <a:rPr lang="en-IN" sz="1600" dirty="0" err="1"/>
              <a:t>SmartContract</a:t>
            </a:r>
            <a:r>
              <a:rPr lang="en-IN" sz="1600" dirty="0"/>
              <a:t>: Submits and validates votes.</a:t>
            </a:r>
          </a:p>
          <a:p>
            <a:pPr lvl="1">
              <a:defRPr sz="1400"/>
            </a:pPr>
            <a:r>
              <a:rPr lang="en-IN" sz="1600" dirty="0"/>
              <a:t>- </a:t>
            </a:r>
            <a:r>
              <a:rPr lang="en-IN" sz="1600" dirty="0" err="1"/>
              <a:t>SmartContract</a:t>
            </a:r>
            <a:r>
              <a:rPr lang="en-IN" sz="1600" dirty="0"/>
              <a:t> ↔ </a:t>
            </a:r>
            <a:r>
              <a:rPr lang="en-IN" sz="1600" dirty="0" err="1"/>
              <a:t>BlockchainService</a:t>
            </a:r>
            <a:r>
              <a:rPr lang="en-IN" sz="1600" dirty="0"/>
              <a:t>: Ensures secure, tamper-proof storage.</a:t>
            </a:r>
          </a:p>
          <a:p>
            <a:pPr marL="0" indent="0">
              <a:buNone/>
            </a:pPr>
            <a:r>
              <a:rPr lang="en-US" sz="1600" dirty="0"/>
              <a:t> </a:t>
            </a:r>
            <a:endParaRPr lang="en-IN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C83BE0-D1E8-7E6F-3E30-320E2D9E5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718" y="821094"/>
            <a:ext cx="4572000" cy="52955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EFBCEAD-CCF3-10F1-D13A-3D30E87D5E35}"/>
              </a:ext>
            </a:extLst>
          </p:cNvPr>
          <p:cNvSpPr txBox="1"/>
          <p:nvPr/>
        </p:nvSpPr>
        <p:spPr>
          <a:xfrm>
            <a:off x="177282" y="821094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17408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C3A63-5159-B838-9B8E-538B88583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diagram of a blockchain process&#10;&#10;AI-generated content may be incorrect.">
            <a:extLst>
              <a:ext uri="{FF2B5EF4-FFF2-40B4-BE49-F238E27FC236}">
                <a16:creationId xmlns:a16="http://schemas.microsoft.com/office/drawing/2014/main" id="{4B509069-97C5-5358-264C-0130AB5796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7165" y="1350780"/>
            <a:ext cx="8149212" cy="4770194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056792-3413-3E9E-97A5-78BE4DDD6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 </a:t>
            </a:r>
            <a:r>
              <a:rPr lang="en-US" dirty="0" err="1"/>
              <a:t>B.Tech</a:t>
            </a:r>
            <a:r>
              <a:rPr lang="en-US" dirty="0"/>
              <a:t> (CSE) - 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/>
              <a:t>Real -Time/Field-Based Research Project 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8247E9-57C0-DC71-82A7-D4681704A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7897284-70A6-7E30-2030-D3576D0674D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ctr">
              <a:lnSpc>
                <a:spcPct val="150000"/>
              </a:lnSpc>
              <a:buClr>
                <a:srgbClr val="9C0400"/>
              </a:buClr>
              <a:buSzPct val="150000"/>
              <a:buNone/>
            </a:pPr>
            <a:r>
              <a:rPr lang="en-US" sz="32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2.System design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91EF97-B4B3-90D7-7C80-49DA736FF1F1}"/>
              </a:ext>
            </a:extLst>
          </p:cNvPr>
          <p:cNvSpPr txBox="1"/>
          <p:nvPr/>
        </p:nvSpPr>
        <p:spPr>
          <a:xfrm>
            <a:off x="746448" y="755780"/>
            <a:ext cx="52624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ARCHITECTURE DIAGRAM:</a:t>
            </a:r>
            <a:endParaRPr lang="en-IN" sz="2800" dirty="0">
              <a:latin typeface="Aptos Black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8440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ED0AA-9AC9-A8A7-5313-2C974DF09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85DE7-63AB-243C-F538-93958AF0E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604" y="1344506"/>
            <a:ext cx="10515600" cy="4351338"/>
          </a:xfrm>
        </p:spPr>
        <p:txBody>
          <a:bodyPr/>
          <a:lstStyle/>
          <a:p>
            <a:pPr>
              <a:buNone/>
            </a:pPr>
            <a:r>
              <a:rPr lang="en-IN" b="1" dirty="0"/>
              <a:t>User Authentication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Integrates blockchain wallet (e.g., MetaMask) for secure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Implements OTP validation via email for added privacy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Prevents unauthorized and duplicate logins</a:t>
            </a:r>
          </a:p>
          <a:p>
            <a:pPr>
              <a:buNone/>
            </a:pPr>
            <a:r>
              <a:rPr lang="en-US" b="1" dirty="0"/>
              <a:t>Voting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Presents a secure, easy-to-use voting interface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Allows users to select and submit votes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Ensures one-time vote casting per authenticated user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4F876F-E79F-FEFE-6C73-3FDC62ECB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 </a:t>
            </a:r>
            <a:r>
              <a:rPr lang="en-US" dirty="0" err="1"/>
              <a:t>B.Tech</a:t>
            </a:r>
            <a:r>
              <a:rPr lang="en-US" dirty="0"/>
              <a:t> (CSE) - 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/>
              <a:t>Real -Time/Field-Based Research Project  Presentation Review-2,</a:t>
            </a:r>
          </a:p>
          <a:p>
            <a:r>
              <a:rPr lang="en-US" dirty="0"/>
              <a:t> CSE Dept, CVR college of Engineering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503688-27B5-C1A5-0C43-3AA5C8C9D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DF3545D-47B4-B55D-2868-3DD31085913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  <a:buClr>
                <a:srgbClr val="9C0400"/>
              </a:buClr>
              <a:buSzPct val="150000"/>
            </a:pPr>
            <a:r>
              <a:rPr lang="en-US" sz="32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3. Implementation – Module description</a:t>
            </a:r>
          </a:p>
          <a:p>
            <a:pPr marL="0" indent="0" algn="ctr">
              <a:lnSpc>
                <a:spcPct val="150000"/>
              </a:lnSpc>
              <a:buClr>
                <a:srgbClr val="9C0400"/>
              </a:buClr>
              <a:buSzPct val="150000"/>
              <a:buNone/>
            </a:pPr>
            <a:endParaRPr lang="en-US" sz="32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9727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783F9-404C-5298-41C7-6463A679B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2F4133-7991-D5E1-7961-72E48AB9A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 </a:t>
            </a:r>
            <a:r>
              <a:rPr lang="en-US" dirty="0" err="1"/>
              <a:t>B.Tech</a:t>
            </a:r>
            <a:r>
              <a:rPr lang="en-US" dirty="0"/>
              <a:t> (CSE) - 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/>
              <a:t>Real -Time/Field-Based Research Project 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785270-DDF2-8516-9F81-88C10754B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A1A14BC-7F37-E1B9-479F-1C4A32A400AD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  <a:buClr>
                <a:srgbClr val="9C0400"/>
              </a:buClr>
              <a:buSzPct val="150000"/>
            </a:pPr>
            <a:r>
              <a:rPr lang="en-US" sz="32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3. Implementation – Module description</a:t>
            </a:r>
          </a:p>
          <a:p>
            <a:pPr marL="0" indent="0" algn="ctr">
              <a:lnSpc>
                <a:spcPct val="150000"/>
              </a:lnSpc>
              <a:buClr>
                <a:srgbClr val="9C0400"/>
              </a:buClr>
              <a:buSzPct val="150000"/>
              <a:buNone/>
            </a:pPr>
            <a:endParaRPr lang="en-US" sz="32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8409E44-2572-8C6D-518F-F20F1343D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763" y="1315586"/>
            <a:ext cx="622067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Smart Contract Module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Contains logic for vote validation and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Enforces voting rules (e.g., one vote per wallet)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Automatically rejects invalid or tampered votes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1CD038E8-E19D-9104-F32B-286D24D5C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763" y="3152022"/>
            <a:ext cx="589783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Blockchain Integration Module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Connects frontend with blockchain network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Stores votes as immutable transactions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Ensures data integrity and tamper resistance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5012244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01038-92D8-4DCC-9A84-54AB53A72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605" y="1073021"/>
            <a:ext cx="10515600" cy="489857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Result Calculation and Display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Tallies votes using smart contracts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Displays real-time or final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Allows users to verify vote inclusion anonymously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E8FB6D-7AAB-2BEB-2365-B3984B06A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 </a:t>
            </a:r>
            <a:r>
              <a:rPr lang="en-US" dirty="0" err="1"/>
              <a:t>B.Tech</a:t>
            </a:r>
            <a:r>
              <a:rPr lang="en-US" dirty="0"/>
              <a:t> (CSE) - 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/>
              <a:t>Real -Time/Field-Based Research Project 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5C7F1-BDAF-4961-B8D8-5F8223161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069AD7A-AF22-B6D8-483A-D1B5F29CC51C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  <a:buClr>
                <a:srgbClr val="9C0400"/>
              </a:buClr>
              <a:buSzPct val="150000"/>
            </a:pPr>
            <a:r>
              <a:rPr lang="en-US" sz="32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3. Implementation – Module description</a:t>
            </a:r>
          </a:p>
          <a:p>
            <a:pPr marL="0" indent="0" algn="ctr">
              <a:lnSpc>
                <a:spcPct val="150000"/>
              </a:lnSpc>
              <a:buClr>
                <a:srgbClr val="9C0400"/>
              </a:buClr>
              <a:buSzPct val="150000"/>
              <a:buNone/>
            </a:pPr>
            <a:endParaRPr lang="en-US" sz="32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638529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DC6C5-DD66-5570-08D2-D115A7D9F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580" y="1163151"/>
            <a:ext cx="10515600" cy="4575175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IN" b="1" dirty="0"/>
              <a:t>Technologies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Frontend Development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HTML, CSS, </a:t>
            </a:r>
            <a:r>
              <a:rPr lang="en-IN" dirty="0" err="1"/>
              <a:t>JavaScript.Tailwind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React.js  (for building dynamic user interfaces)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Web3.js (for interacting with the Ethereum blockchain)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Blockchain Platform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Ethereum (preferred for its smart contract functionality)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MetaMask (browser extension for wallet integration)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Backend Development:(Smart contracts)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Solidity (language used to write smart contracts)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Remix IDE or Hardhat (for writing, testing, and deploying contracts)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Email Service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Firebase Authentication</a:t>
            </a:r>
            <a:r>
              <a:rPr lang="en-US" dirty="0"/>
              <a:t>: Supports sending </a:t>
            </a:r>
            <a:r>
              <a:rPr lang="en-US" b="1" dirty="0"/>
              <a:t>email-based OTPs</a:t>
            </a:r>
            <a:r>
              <a:rPr lang="en-US" dirty="0"/>
              <a:t> (via email link sign-in or verification emails).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B59F19-8E78-2C83-6E98-6E96A23B3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 </a:t>
            </a:r>
            <a:r>
              <a:rPr lang="en-US" dirty="0" err="1"/>
              <a:t>B.Tech</a:t>
            </a:r>
            <a:r>
              <a:rPr lang="en-US" dirty="0"/>
              <a:t> (CSE) - 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/>
              <a:t>Real -Time/Field-Based Research Project 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323E1-3EF3-DEDD-54D8-F02238993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2FEC9BB-410A-CCC9-94AB-194301BA38A2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  <a:buClr>
                <a:srgbClr val="9C0400"/>
              </a:buClr>
              <a:buSzPct val="150000"/>
            </a:pPr>
            <a:r>
              <a:rPr lang="en-US" sz="32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4. Coding  </a:t>
            </a:r>
          </a:p>
          <a:p>
            <a:pPr algn="ctr">
              <a:lnSpc>
                <a:spcPct val="150000"/>
              </a:lnSpc>
              <a:buClr>
                <a:srgbClr val="9C0400"/>
              </a:buClr>
              <a:buSzPct val="150000"/>
            </a:pPr>
            <a:endParaRPr lang="en-US" sz="32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Clr>
                <a:srgbClr val="9C0400"/>
              </a:buClr>
              <a:buSzPct val="150000"/>
              <a:buNone/>
            </a:pPr>
            <a:endParaRPr lang="en-US" sz="32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139895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EA9AAD-C376-9888-2BAE-C67803AC5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 </a:t>
            </a:r>
            <a:r>
              <a:rPr lang="en-US" dirty="0" err="1"/>
              <a:t>B.Tech</a:t>
            </a:r>
            <a:r>
              <a:rPr lang="en-US" dirty="0"/>
              <a:t> (CSE) - 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/>
              <a:t>Real -Time/Field-Based Research Project 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6D4EE3-CE03-F3FF-39EB-B7BC38DB7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D7DDDB5-2EF8-7D7F-9E4A-7D327E000624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ctr">
              <a:lnSpc>
                <a:spcPct val="150000"/>
              </a:lnSpc>
              <a:buClr>
                <a:srgbClr val="9C0400"/>
              </a:buClr>
              <a:buSzPct val="150000"/>
              <a:buNone/>
            </a:pPr>
            <a:r>
              <a:rPr lang="en-US" sz="32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5. Results ( Expected output)</a:t>
            </a:r>
          </a:p>
          <a:p>
            <a:pPr algn="ctr">
              <a:lnSpc>
                <a:spcPct val="150000"/>
              </a:lnSpc>
              <a:buClr>
                <a:srgbClr val="9C0400"/>
              </a:buClr>
              <a:buSzPct val="150000"/>
            </a:pPr>
            <a:endParaRPr lang="en-US" sz="32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Clr>
                <a:srgbClr val="9C0400"/>
              </a:buClr>
              <a:buSzPct val="150000"/>
              <a:buNone/>
            </a:pPr>
            <a:endParaRPr lang="en-US" sz="32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E1DFAAC-5B27-8A6A-83E7-011B888B7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898" y="1343739"/>
            <a:ext cx="631682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sz="2800" dirty="0"/>
              <a:t>✔️ Fast Results</a:t>
            </a:r>
            <a:br>
              <a:rPr lang="en-IN" sz="2800" dirty="0"/>
            </a:br>
            <a:r>
              <a:rPr lang="en-IN" sz="2800" dirty="0"/>
              <a:t>✔️ Reduces Cost</a:t>
            </a:r>
            <a:br>
              <a:rPr lang="en-IN" sz="2800" dirty="0"/>
            </a:br>
            <a:r>
              <a:rPr lang="en-IN" sz="2800" dirty="0"/>
              <a:t>✔️ Prevents Duplicate Voting</a:t>
            </a:r>
            <a:br>
              <a:rPr lang="en-IN" sz="2800" dirty="0"/>
            </a:br>
            <a:r>
              <a:rPr lang="en-IN" sz="2800" dirty="0"/>
              <a:t>✔️ Real-Time Monitoring</a:t>
            </a:r>
            <a:br>
              <a:rPr lang="en-IN" sz="2800" dirty="0"/>
            </a:br>
            <a:r>
              <a:rPr lang="en-IN" sz="2800" dirty="0"/>
              <a:t>✔️ Enhances Voter Confidence</a:t>
            </a:r>
            <a:br>
              <a:rPr lang="en-IN" sz="2800" dirty="0"/>
            </a:br>
            <a:r>
              <a:rPr lang="en-IN" sz="2800" dirty="0"/>
              <a:t>✔️ Accessible Voting</a:t>
            </a:r>
            <a:br>
              <a:rPr lang="en-IN" sz="2800" dirty="0"/>
            </a:br>
            <a:r>
              <a:rPr lang="en-IN" sz="2800" dirty="0"/>
              <a:t>✔️ Reduces Human Error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2C5E81-6AA4-AF76-A695-F2F11E323E19}"/>
              </a:ext>
            </a:extLst>
          </p:cNvPr>
          <p:cNvSpPr txBox="1"/>
          <p:nvPr/>
        </p:nvSpPr>
        <p:spPr>
          <a:xfrm>
            <a:off x="597159" y="921607"/>
            <a:ext cx="94799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E-VOTING THROUGH BLOCKCHAIN Solves the Challenges and  produces these results:</a:t>
            </a:r>
            <a:endParaRPr lang="en-IN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D94640-5E03-72B8-E433-40FD323A3606}"/>
              </a:ext>
            </a:extLst>
          </p:cNvPr>
          <p:cNvSpPr txBox="1"/>
          <p:nvPr/>
        </p:nvSpPr>
        <p:spPr>
          <a:xfrm>
            <a:off x="598714" y="1726293"/>
            <a:ext cx="50851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✔️ Transparency</a:t>
            </a:r>
            <a:br>
              <a:rPr lang="en-IN" sz="2400" dirty="0"/>
            </a:br>
            <a:r>
              <a:rPr lang="en-IN" sz="2400" dirty="0"/>
              <a:t>✔️ Immutability</a:t>
            </a:r>
            <a:br>
              <a:rPr lang="en-IN" sz="2400" dirty="0"/>
            </a:br>
            <a:r>
              <a:rPr lang="en-IN" sz="2400" dirty="0"/>
              <a:t>✔️ Decentralization</a:t>
            </a:r>
            <a:br>
              <a:rPr lang="en-IN" sz="2400" dirty="0"/>
            </a:br>
            <a:r>
              <a:rPr lang="en-IN" sz="2400" dirty="0"/>
              <a:t>✔️ Security</a:t>
            </a:r>
            <a:br>
              <a:rPr lang="en-IN" sz="2400" dirty="0"/>
            </a:br>
            <a:r>
              <a:rPr lang="en-IN" sz="2400" dirty="0"/>
              <a:t>✔️ Accuracy</a:t>
            </a:r>
            <a:br>
              <a:rPr lang="en-IN" sz="2400" dirty="0"/>
            </a:br>
            <a:r>
              <a:rPr lang="en-IN" sz="2400" dirty="0"/>
              <a:t>✔️ Trust</a:t>
            </a:r>
            <a:br>
              <a:rPr lang="en-IN" sz="2400" dirty="0"/>
            </a:br>
            <a:r>
              <a:rPr lang="en-IN" sz="2400" dirty="0"/>
              <a:t>✔️ Tamper-proof</a:t>
            </a:r>
            <a:br>
              <a:rPr lang="en-IN" sz="2400" dirty="0"/>
            </a:br>
            <a:r>
              <a:rPr lang="en-IN" sz="2400" dirty="0"/>
              <a:t>✔️ Efficient</a:t>
            </a:r>
            <a:br>
              <a:rPr lang="en-IN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26778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6A760-402E-CE74-EF0D-059C1DB0C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5D4100-8F9F-2019-4539-371F1CB7F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 </a:t>
            </a:r>
            <a:r>
              <a:rPr lang="en-US" dirty="0" err="1"/>
              <a:t>B.Tech</a:t>
            </a:r>
            <a:r>
              <a:rPr lang="en-US" dirty="0"/>
              <a:t> (CSE) - 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/>
              <a:t>Real -Time/Field-Based Research Project 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17B249-2397-02E2-3D12-24ABDC467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D89498D-57C7-E60D-4E18-D72A4DD3782A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ctr">
              <a:lnSpc>
                <a:spcPct val="150000"/>
              </a:lnSpc>
              <a:buClr>
                <a:srgbClr val="9C0400"/>
              </a:buClr>
              <a:buSzPct val="150000"/>
              <a:buNone/>
            </a:pPr>
            <a:r>
              <a:rPr lang="en-US" sz="32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5. Results ( Expected output)</a:t>
            </a:r>
          </a:p>
          <a:p>
            <a:pPr algn="ctr">
              <a:lnSpc>
                <a:spcPct val="150000"/>
              </a:lnSpc>
              <a:buClr>
                <a:srgbClr val="9C0400"/>
              </a:buClr>
              <a:buSzPct val="150000"/>
            </a:pPr>
            <a:endParaRPr lang="en-US" sz="32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Clr>
                <a:srgbClr val="9C0400"/>
              </a:buClr>
              <a:buSzPct val="150000"/>
              <a:buNone/>
            </a:pPr>
            <a:endParaRPr lang="en-US" sz="32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E22D63-85D8-950B-0E34-CFD0EDB94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84000"/>
            <a:ext cx="6531428" cy="6174000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D60F07-0270-97B7-D598-E5B2697FE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429" y="684000"/>
            <a:ext cx="5744547" cy="616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873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A1FA5D-B16D-CE85-381C-FF27844EF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computer screen shot of a computer screen&#10;&#10;AI-generated content may be incorrect.">
            <a:extLst>
              <a:ext uri="{FF2B5EF4-FFF2-40B4-BE49-F238E27FC236}">
                <a16:creationId xmlns:a16="http://schemas.microsoft.com/office/drawing/2014/main" id="{335958D6-35AC-B1C7-AF8F-3709639F750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14382" r="-1" b="-1"/>
          <a:stretch/>
        </p:blipFill>
        <p:spPr>
          <a:xfrm>
            <a:off x="3918857" y="-5"/>
            <a:ext cx="8273142" cy="3681406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BE056C-502D-066E-4749-49C2F9651E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91" r="-1" b="23130"/>
          <a:stretch/>
        </p:blipFill>
        <p:spPr>
          <a:xfrm>
            <a:off x="4638373" y="3681409"/>
            <a:ext cx="7644062" cy="317659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1A1E524-73BB-7C24-A7DF-FED75218742F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115219"/>
            <a:ext cx="539591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>
              <a:spcAft>
                <a:spcPts val="600"/>
              </a:spcAft>
              <a:buClr>
                <a:srgbClr val="9C0400"/>
              </a:buClr>
              <a:buSzPct val="150000"/>
            </a:pPr>
            <a:r>
              <a:rPr lang="en-US" sz="5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5. Results ( Expected output)</a:t>
            </a:r>
          </a:p>
          <a:p>
            <a:pPr>
              <a:spcAft>
                <a:spcPts val="600"/>
              </a:spcAft>
              <a:buClr>
                <a:srgbClr val="9C0400"/>
              </a:buClr>
              <a:buSzPct val="150000"/>
            </a:pPr>
            <a:endParaRPr lang="en-US" sz="50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marL="0" indent="0">
              <a:spcAft>
                <a:spcPts val="600"/>
              </a:spcAft>
              <a:buClr>
                <a:srgbClr val="9C0400"/>
              </a:buClr>
              <a:buSzPct val="150000"/>
            </a:pPr>
            <a:endParaRPr lang="en-US" sz="50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B93BEF-B406-53F2-9493-10737F866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II B.Tech (CSE) - </a:t>
            </a:r>
            <a:r>
              <a:rPr lang="en-US" sz="700" b="1" kern="120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7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Real -Time/Field-Based Research Project  Presentation Review-2,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 CSE Dept, CVR college of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2F0AF1-97A5-5A64-46EB-370658BC4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D22F896-40B5-4ADD-8801-0D06FADFA095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16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852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EB8BA-463E-C875-0C08-3ACAC4916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09D2CD-8AF2-DD57-5209-8F2045940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 </a:t>
            </a:r>
            <a:r>
              <a:rPr lang="en-US" dirty="0" err="1"/>
              <a:t>B.Tech</a:t>
            </a:r>
            <a:r>
              <a:rPr lang="en-US" dirty="0"/>
              <a:t> (CSE) - 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/>
              <a:t>Real -Time/Field-Based Research Project  Presentation Review-2,</a:t>
            </a:r>
          </a:p>
          <a:p>
            <a:r>
              <a:rPr lang="en-US" dirty="0"/>
              <a:t> CSE Dept, CVR college of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C191FD-5D0E-5901-8919-C8BD9A040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A00FACF-2FC7-7EA9-D477-ECD4E73A11E6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ctr">
              <a:lnSpc>
                <a:spcPct val="150000"/>
              </a:lnSpc>
              <a:buClr>
                <a:srgbClr val="9C0400"/>
              </a:buClr>
              <a:buSzPct val="150000"/>
              <a:buNone/>
            </a:pPr>
            <a:r>
              <a:rPr lang="en-US" sz="32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5. Results ( Expected output)</a:t>
            </a:r>
          </a:p>
          <a:p>
            <a:pPr algn="ctr">
              <a:lnSpc>
                <a:spcPct val="150000"/>
              </a:lnSpc>
              <a:buClr>
                <a:srgbClr val="9C0400"/>
              </a:buClr>
              <a:buSzPct val="150000"/>
            </a:pPr>
            <a:endParaRPr lang="en-US" sz="32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Clr>
                <a:srgbClr val="9C0400"/>
              </a:buClr>
              <a:buSzPct val="150000"/>
              <a:buNone/>
            </a:pPr>
            <a:endParaRPr lang="en-US" sz="32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E0D2BE-7EF1-6250-D0ED-3C14D4491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4000"/>
            <a:ext cx="12192000" cy="61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505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B2A84-6364-5B6E-00B9-958D64F75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8294"/>
            <a:ext cx="10515600" cy="489866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"A systematic review of challenges and opportunities of blockchain for E-voting."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Symmetry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12.8 (2020): 1328.</a:t>
            </a:r>
          </a:p>
          <a:p>
            <a:pPr marL="0" indent="0">
              <a:buNone/>
            </a:pPr>
            <a:r>
              <a:rPr lang="en-IN" dirty="0">
                <a:hlinkClick r:id="rId2" tooltip="https://www.mdpi.com/2079-9292/13/1/17"/>
              </a:rPr>
              <a:t>https://www.mdpi.com/2079-9292/13/1/17</a:t>
            </a:r>
            <a:endParaRPr lang="en-IN" dirty="0"/>
          </a:p>
          <a:p>
            <a:pPr marL="0" indent="0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"A systematic review of challenges and opportunities of blockchain for E-voting."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Symmetry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12.8 (2020): 1328.</a:t>
            </a:r>
            <a:endParaRPr lang="en-IN" dirty="0"/>
          </a:p>
          <a:p>
            <a:pPr marL="0" indent="0">
              <a:buNone/>
            </a:pPr>
            <a:r>
              <a:rPr lang="en-IN" dirty="0">
                <a:hlinkClick r:id="rId3"/>
              </a:rPr>
              <a:t>https://www.mdpi.com/2073-8994/12/8/1328</a:t>
            </a:r>
            <a:endParaRPr lang="en-IN" dirty="0"/>
          </a:p>
          <a:p>
            <a:pPr marL="0" indent="0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"Blockchain-based e-voting system."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2018 IEEE 11th international conference on cloud computing (CLOUD)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IEEE, 2018.</a:t>
            </a:r>
            <a:endParaRPr lang="en-IN" dirty="0"/>
          </a:p>
          <a:p>
            <a:pPr marL="0" indent="0">
              <a:buNone/>
            </a:pPr>
            <a:r>
              <a:rPr lang="en-IN" dirty="0">
                <a:hlinkClick r:id="rId4"/>
              </a:rPr>
              <a:t>https://ieeexplore.ieee.org/abstract/document/8457919/</a:t>
            </a:r>
            <a:endParaRPr lang="en-IN" dirty="0"/>
          </a:p>
          <a:p>
            <a:pPr marL="0" indent="0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"Analysis of blockchain solutions for E-voting: a systematic literature review."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IEEE Access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10 (2022): 70746-70759.</a:t>
            </a:r>
            <a:endParaRPr lang="en-IN" dirty="0"/>
          </a:p>
          <a:p>
            <a:pPr marL="0" indent="0">
              <a:buNone/>
            </a:pPr>
            <a:r>
              <a:rPr lang="en-IN" dirty="0">
                <a:hlinkClick r:id="rId5"/>
              </a:rPr>
              <a:t>https://ieeexplore.ieee.org/abstract/document/9812616/</a:t>
            </a:r>
            <a:endParaRPr lang="en-IN" dirty="0"/>
          </a:p>
          <a:p>
            <a:pPr marL="0" indent="0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"E-voting meets blockchain: A survey."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IEEE Access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11 (2023): 23293-23308.</a:t>
            </a:r>
            <a:endParaRPr lang="en-IN" dirty="0"/>
          </a:p>
          <a:p>
            <a:pPr marL="0" indent="0">
              <a:buNone/>
            </a:pPr>
            <a:r>
              <a:rPr lang="en-IN" dirty="0">
                <a:hlinkClick r:id="rId6"/>
              </a:rPr>
              <a:t>https://ieeexplore.ieee.org/abstract/document/10061373/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83157A-ED6E-AE9B-41C2-7040D2B86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 </a:t>
            </a:r>
            <a:r>
              <a:rPr lang="en-US" dirty="0" err="1"/>
              <a:t>B.Tech</a:t>
            </a:r>
            <a:r>
              <a:rPr lang="en-US" dirty="0"/>
              <a:t> (CSE) - 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/>
              <a:t>Real -Time/Field-Based Research Project  Presentation Review-2,</a:t>
            </a:r>
          </a:p>
          <a:p>
            <a:r>
              <a:rPr lang="en-US" dirty="0"/>
              <a:t> CSE Dept, CVR college of Engineering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8495D9-AD54-8628-ACD6-7B6547457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E7BABF4-2F84-929D-DB09-D9153AB547C4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ctr">
              <a:lnSpc>
                <a:spcPct val="150000"/>
              </a:lnSpc>
              <a:buClr>
                <a:srgbClr val="9C0400"/>
              </a:buClr>
              <a:buSzPct val="150000"/>
              <a:buNone/>
            </a:pPr>
            <a:r>
              <a:rPr lang="en-US" sz="32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pPr marL="0" indent="0" algn="ctr">
              <a:lnSpc>
                <a:spcPct val="150000"/>
              </a:lnSpc>
              <a:buClr>
                <a:srgbClr val="9C0400"/>
              </a:buClr>
              <a:buSzPct val="150000"/>
              <a:buNone/>
            </a:pPr>
            <a:endParaRPr lang="en-US" sz="32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620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2558</TotalTime>
  <Words>1694</Words>
  <Application>Microsoft Office PowerPoint</Application>
  <PresentationFormat>Widescreen</PresentationFormat>
  <Paragraphs>176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 Black</vt:lpstr>
      <vt:lpstr>Arial</vt:lpstr>
      <vt:lpstr>Berlin Sans FB Demi</vt:lpstr>
      <vt:lpstr>Calibri</vt:lpstr>
      <vt:lpstr>Calibri Light</vt:lpstr>
      <vt:lpstr>Segoe UI Black</vt:lpstr>
      <vt:lpstr>Times New Roman</vt:lpstr>
      <vt:lpstr>Office Theme</vt:lpstr>
      <vt:lpstr>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Dr Amit Kumar Professor CSE</dc:creator>
  <cp:lastModifiedBy>Ajay Kumar</cp:lastModifiedBy>
  <cp:revision>836</cp:revision>
  <dcterms:created xsi:type="dcterms:W3CDTF">2019-07-19T06:49:32Z</dcterms:created>
  <dcterms:modified xsi:type="dcterms:W3CDTF">2025-04-22T15:42:46Z</dcterms:modified>
</cp:coreProperties>
</file>